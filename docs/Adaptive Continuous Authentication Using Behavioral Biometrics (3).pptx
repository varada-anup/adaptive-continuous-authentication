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Proxima Nova Bold" charset="1" panose="02000506030000020004"/>
      <p:regular r:id="rId23"/>
    </p:embeddedFont>
    <p:embeddedFont>
      <p:font typeface="Nunito" charset="1" panose="00000000000000000000"/>
      <p:regular r:id="rId24"/>
    </p:embeddedFont>
    <p:embeddedFont>
      <p:font typeface="Canva Sans" charset="1" panose="020B0503030501040103"/>
      <p:regular r:id="rId25"/>
    </p:embeddedFont>
    <p:embeddedFont>
      <p:font typeface="Nunito Bold" charset="1" panose="00000000000000000000"/>
      <p:regular r:id="rId26"/>
    </p:embeddedFont>
    <p:embeddedFont>
      <p:font typeface="Arimo Bold" charset="1" panose="020B0704020202020204"/>
      <p:regular r:id="rId27"/>
    </p:embeddedFont>
    <p:embeddedFont>
      <p:font typeface="Open Sans Bold" charset="1" panose="020B0806030504020204"/>
      <p:regular r:id="rId28"/>
    </p:embeddedFont>
    <p:embeddedFont>
      <p:font typeface="Open Sans" charset="1" panose="020B0606030504020204"/>
      <p:regular r:id="rId29"/>
    </p:embeddedFont>
    <p:embeddedFont>
      <p:font typeface="Nunito Italics" charset="1" panose="0000000000000000000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13195961" y="5935345"/>
            <a:ext cx="8126677" cy="8126677"/>
          </a:xfrm>
          <a:custGeom>
            <a:avLst/>
            <a:gdLst/>
            <a:ahLst/>
            <a:cxnLst/>
            <a:rect r="r" b="b" t="t" l="l"/>
            <a:pathLst>
              <a:path h="8126677" w="8126677">
                <a:moveTo>
                  <a:pt x="0" y="0"/>
                </a:moveTo>
                <a:lnTo>
                  <a:pt x="8126678" y="0"/>
                </a:lnTo>
                <a:lnTo>
                  <a:pt x="8126678" y="8126677"/>
                </a:lnTo>
                <a:lnTo>
                  <a:pt x="0" y="81266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50137" y="-174299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94970" y="-1387826"/>
            <a:ext cx="3404467" cy="3404467"/>
          </a:xfrm>
          <a:custGeom>
            <a:avLst/>
            <a:gdLst/>
            <a:ahLst/>
            <a:cxnLst/>
            <a:rect r="r" b="b" t="t" l="l"/>
            <a:pathLst>
              <a:path h="3404467" w="3404467">
                <a:moveTo>
                  <a:pt x="0" y="0"/>
                </a:moveTo>
                <a:lnTo>
                  <a:pt x="3404466" y="0"/>
                </a:lnTo>
                <a:lnTo>
                  <a:pt x="3404466" y="3404467"/>
                </a:lnTo>
                <a:lnTo>
                  <a:pt x="0" y="34044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897411" y="6636795"/>
            <a:ext cx="6723778" cy="6723778"/>
          </a:xfrm>
          <a:custGeom>
            <a:avLst/>
            <a:gdLst/>
            <a:ahLst/>
            <a:cxnLst/>
            <a:rect r="r" b="b" t="t" l="l"/>
            <a:pathLst>
              <a:path h="6723778" w="6723778">
                <a:moveTo>
                  <a:pt x="0" y="0"/>
                </a:moveTo>
                <a:lnTo>
                  <a:pt x="6723778" y="0"/>
                </a:lnTo>
                <a:lnTo>
                  <a:pt x="6723778" y="6723778"/>
                </a:lnTo>
                <a:lnTo>
                  <a:pt x="0" y="6723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4876906" y="7616290"/>
            <a:ext cx="4764788" cy="476478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499020" y="-891876"/>
            <a:ext cx="2412567" cy="241256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1028700" y="2003053"/>
            <a:ext cx="16230600" cy="3316579"/>
          </a:xfrm>
          <a:prstGeom prst="rect">
            <a:avLst/>
          </a:prstGeom>
        </p:spPr>
        <p:txBody>
          <a:bodyPr anchor="t" rtlCol="false" tIns="0" lIns="0" bIns="0" rIns="0">
            <a:spAutoFit/>
          </a:bodyPr>
          <a:lstStyle/>
          <a:p>
            <a:pPr algn="ctr">
              <a:lnSpc>
                <a:spcPts val="8821"/>
              </a:lnSpc>
            </a:pPr>
            <a:r>
              <a:rPr lang="en-US" b="true" sz="6301">
                <a:solidFill>
                  <a:srgbClr val="000000"/>
                </a:solidFill>
                <a:latin typeface="Proxima Nova Bold"/>
                <a:ea typeface="Proxima Nova Bold"/>
                <a:cs typeface="Proxima Nova Bold"/>
                <a:sym typeface="Proxima Nova Bold"/>
              </a:rPr>
              <a:t>ADAPTIV</a:t>
            </a:r>
            <a:r>
              <a:rPr lang="en-US" b="true" sz="6301">
                <a:solidFill>
                  <a:srgbClr val="000000"/>
                </a:solidFill>
                <a:latin typeface="Proxima Nova Bold"/>
                <a:ea typeface="Proxima Nova Bold"/>
                <a:cs typeface="Proxima Nova Bold"/>
                <a:sym typeface="Proxima Nova Bold"/>
              </a:rPr>
              <a:t>E CONTINUOUS AUTHENTICATION USING BEHAVIORAL BIOMETRICS</a:t>
            </a:r>
          </a:p>
        </p:txBody>
      </p:sp>
      <p:sp>
        <p:nvSpPr>
          <p:cNvPr name="TextBox 13" id="13"/>
          <p:cNvSpPr txBox="true"/>
          <p:nvPr/>
        </p:nvSpPr>
        <p:spPr>
          <a:xfrm rot="0">
            <a:off x="1028700" y="7062795"/>
            <a:ext cx="9854570" cy="1725929"/>
          </a:xfrm>
          <a:prstGeom prst="rect">
            <a:avLst/>
          </a:prstGeom>
        </p:spPr>
        <p:txBody>
          <a:bodyPr anchor="t" rtlCol="false" tIns="0" lIns="0" bIns="0" rIns="0">
            <a:spAutoFit/>
          </a:bodyPr>
          <a:lstStyle/>
          <a:p>
            <a:pPr algn="l">
              <a:lnSpc>
                <a:spcPts val="4620"/>
              </a:lnSpc>
            </a:pPr>
            <a:r>
              <a:rPr lang="en-US" sz="3300">
                <a:solidFill>
                  <a:srgbClr val="000000"/>
                </a:solidFill>
                <a:latin typeface="Nunito"/>
                <a:ea typeface="Nunito"/>
                <a:cs typeface="Nunito"/>
                <a:sym typeface="Nunito"/>
              </a:rPr>
              <a:t>Submitted By: Varada Anup</a:t>
            </a:r>
          </a:p>
          <a:p>
            <a:pPr algn="l">
              <a:lnSpc>
                <a:spcPts val="4620"/>
              </a:lnSpc>
            </a:pPr>
            <a:r>
              <a:rPr lang="en-US" sz="3300">
                <a:solidFill>
                  <a:srgbClr val="000000"/>
                </a:solidFill>
                <a:latin typeface="Nunito"/>
                <a:ea typeface="Nunito"/>
                <a:cs typeface="Nunito"/>
                <a:sym typeface="Nunito"/>
              </a:rPr>
              <a:t>Roll no: MUT24MCA2058</a:t>
            </a:r>
          </a:p>
          <a:p>
            <a:pPr algn="l">
              <a:lnSpc>
                <a:spcPts val="4620"/>
              </a:lnSpc>
            </a:pPr>
            <a:r>
              <a:rPr lang="en-US" sz="3300">
                <a:solidFill>
                  <a:srgbClr val="000000"/>
                </a:solidFill>
                <a:latin typeface="Nunito"/>
                <a:ea typeface="Nunito"/>
                <a:cs typeface="Nunito"/>
                <a:sym typeface="Nunito"/>
              </a:rPr>
              <a:t>Project Guide: Asst. Prof. Jiss Kuruvilla</a:t>
            </a:r>
          </a:p>
        </p:txBody>
      </p:sp>
      <p:sp>
        <p:nvSpPr>
          <p:cNvPr name="TextBox 14" id="1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00" y="933450"/>
            <a:ext cx="16102763" cy="887095"/>
          </a:xfrm>
          <a:prstGeom prst="rect">
            <a:avLst/>
          </a:prstGeom>
        </p:spPr>
        <p:txBody>
          <a:bodyPr anchor="t" rtlCol="false" tIns="0" lIns="0" bIns="0" rIns="0">
            <a:spAutoFit/>
          </a:bodyPr>
          <a:lstStyle/>
          <a:p>
            <a:pPr algn="ctr">
              <a:lnSpc>
                <a:spcPts val="7279"/>
              </a:lnSpc>
            </a:pPr>
            <a:r>
              <a:rPr lang="en-US" b="true" sz="5199">
                <a:solidFill>
                  <a:srgbClr val="000000"/>
                </a:solidFill>
                <a:latin typeface="Proxima Nova Bold"/>
                <a:ea typeface="Proxima Nova Bold"/>
                <a:cs typeface="Proxima Nova Bold"/>
                <a:sym typeface="Proxima Nova Bold"/>
              </a:rPr>
              <a:t>INTRODUCTION</a:t>
            </a:r>
          </a:p>
        </p:txBody>
      </p:sp>
      <p:sp>
        <p:nvSpPr>
          <p:cNvPr name="TextBox 5" id="5"/>
          <p:cNvSpPr txBox="true"/>
          <p:nvPr/>
        </p:nvSpPr>
        <p:spPr>
          <a:xfrm rot="0">
            <a:off x="2390449" y="2376663"/>
            <a:ext cx="13379265" cy="6268369"/>
          </a:xfrm>
          <a:prstGeom prst="rect">
            <a:avLst/>
          </a:prstGeom>
        </p:spPr>
        <p:txBody>
          <a:bodyPr anchor="t" rtlCol="false" tIns="0" lIns="0" bIns="0" rIns="0">
            <a:spAutoFit/>
          </a:bodyPr>
          <a:lstStyle/>
          <a:p>
            <a:pPr algn="just" marL="639885" indent="-319943" lvl="1">
              <a:lnSpc>
                <a:spcPts val="4149"/>
              </a:lnSpc>
              <a:buFont typeface="Arial"/>
              <a:buChar char="•"/>
            </a:pPr>
            <a:r>
              <a:rPr lang="en-US" sz="2963">
                <a:solidFill>
                  <a:srgbClr val="000000"/>
                </a:solidFill>
                <a:latin typeface="Nunito"/>
                <a:ea typeface="Nunito"/>
                <a:cs typeface="Nunito"/>
                <a:sym typeface="Nunito"/>
              </a:rPr>
              <a:t>Traditional authentication systems verify users only at the time of login and assume the same user remains active throughout the session, this assumption creates security risks such as session hijacking and unauthorised access after successful login.</a:t>
            </a:r>
          </a:p>
          <a:p>
            <a:pPr algn="just" marL="639885" indent="-319943" lvl="1">
              <a:lnSpc>
                <a:spcPts val="4149"/>
              </a:lnSpc>
              <a:buFont typeface="Arial"/>
              <a:buChar char="•"/>
            </a:pPr>
            <a:r>
              <a:rPr lang="en-US" sz="2963">
                <a:solidFill>
                  <a:srgbClr val="000000"/>
                </a:solidFill>
                <a:latin typeface="Nunito"/>
                <a:ea typeface="Nunito"/>
                <a:cs typeface="Nunito"/>
                <a:sym typeface="Nunito"/>
              </a:rPr>
              <a:t>Continuous authentication enhances security by continuously monitoring user behaviour during active sessions.</a:t>
            </a:r>
          </a:p>
          <a:p>
            <a:pPr algn="just" marL="639885" indent="-319943" lvl="1">
              <a:lnSpc>
                <a:spcPts val="4149"/>
              </a:lnSpc>
              <a:buFont typeface="Arial"/>
              <a:buChar char="•"/>
            </a:pPr>
            <a:r>
              <a:rPr lang="en-US" sz="2963">
                <a:solidFill>
                  <a:srgbClr val="000000"/>
                </a:solidFill>
                <a:latin typeface="Nunito"/>
                <a:ea typeface="Nunito"/>
                <a:cs typeface="Nunito"/>
                <a:sym typeface="Nunito"/>
              </a:rPr>
              <a:t>Behavioural biometrics focus on how users interact with a system rather than what credentials they provide.</a:t>
            </a:r>
          </a:p>
          <a:p>
            <a:pPr algn="just" marL="639885" indent="-319943" lvl="1">
              <a:lnSpc>
                <a:spcPts val="4149"/>
              </a:lnSpc>
              <a:buFont typeface="Arial"/>
              <a:buChar char="•"/>
            </a:pPr>
            <a:r>
              <a:rPr lang="en-US" sz="2963">
                <a:solidFill>
                  <a:srgbClr val="000000"/>
                </a:solidFill>
                <a:latin typeface="Nunito"/>
                <a:ea typeface="Nunito"/>
                <a:cs typeface="Nunito"/>
                <a:sym typeface="Nunito"/>
              </a:rPr>
              <a:t>Keystroke dynamics and mouse movement patterns are effective, non-intrusive behavioural indicators.</a:t>
            </a:r>
          </a:p>
          <a:p>
            <a:pPr algn="just" marL="639885" indent="-319943" lvl="1">
              <a:lnSpc>
                <a:spcPts val="4149"/>
              </a:lnSpc>
              <a:buFont typeface="Arial"/>
              <a:buChar char="•"/>
            </a:pPr>
            <a:r>
              <a:rPr lang="en-US" sz="2963">
                <a:solidFill>
                  <a:srgbClr val="000000"/>
                </a:solidFill>
                <a:latin typeface="Nunito"/>
                <a:ea typeface="Nunito"/>
                <a:cs typeface="Nunito"/>
                <a:sym typeface="Nunito"/>
              </a:rPr>
              <a:t>This project aims to design an adaptive continuous authentication system using behavioural biometrics.</a:t>
            </a:r>
          </a:p>
        </p:txBody>
      </p:sp>
      <p:sp>
        <p:nvSpPr>
          <p:cNvPr name="Freeform 6" id="6"/>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2319137" y="9258300"/>
            <a:ext cx="3911463" cy="3911463"/>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3" id="13"/>
          <p:cNvGrpSpPr/>
          <p:nvPr/>
        </p:nvGrpSpPr>
        <p:grpSpPr>
          <a:xfrm rot="0">
            <a:off x="2129385" y="-2859528"/>
            <a:ext cx="3911463" cy="3911463"/>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00" y="1151090"/>
            <a:ext cx="16230600" cy="936614"/>
          </a:xfrm>
          <a:prstGeom prst="rect">
            <a:avLst/>
          </a:prstGeom>
        </p:spPr>
        <p:txBody>
          <a:bodyPr anchor="t" rtlCol="false" tIns="0" lIns="0" bIns="0" rIns="0">
            <a:spAutoFit/>
          </a:bodyPr>
          <a:lstStyle/>
          <a:p>
            <a:pPr algn="ctr">
              <a:lnSpc>
                <a:spcPts val="7700"/>
              </a:lnSpc>
            </a:pPr>
            <a:r>
              <a:rPr lang="en-US" b="true" sz="5500">
                <a:solidFill>
                  <a:srgbClr val="000000"/>
                </a:solidFill>
                <a:latin typeface="Proxima Nova Bold"/>
                <a:ea typeface="Proxima Nova Bold"/>
                <a:cs typeface="Proxima Nova Bold"/>
                <a:sym typeface="Proxima Nova Bold"/>
              </a:rPr>
              <a:t>PROBLEM STATEMENT</a:t>
            </a:r>
          </a:p>
        </p:txBody>
      </p:sp>
      <p:sp>
        <p:nvSpPr>
          <p:cNvPr name="TextBox 5" id="5"/>
          <p:cNvSpPr txBox="true"/>
          <p:nvPr/>
        </p:nvSpPr>
        <p:spPr>
          <a:xfrm rot="0">
            <a:off x="1820411" y="2686767"/>
            <a:ext cx="14647178" cy="5502243"/>
          </a:xfrm>
          <a:prstGeom prst="rect">
            <a:avLst/>
          </a:prstGeom>
        </p:spPr>
        <p:txBody>
          <a:bodyPr anchor="t" rtlCol="false" tIns="0" lIns="0" bIns="0" rIns="0">
            <a:spAutoFit/>
          </a:bodyPr>
          <a:lstStyle/>
          <a:p>
            <a:pPr algn="just" marL="674957" indent="-337478" lvl="1">
              <a:lnSpc>
                <a:spcPts val="4376"/>
              </a:lnSpc>
              <a:buFont typeface="Arial"/>
              <a:buChar char="•"/>
            </a:pPr>
            <a:r>
              <a:rPr lang="en-US" sz="3126">
                <a:solidFill>
                  <a:srgbClr val="000000"/>
                </a:solidFill>
                <a:latin typeface="Nunito"/>
                <a:ea typeface="Nunito"/>
                <a:cs typeface="Nunito"/>
                <a:sym typeface="Nunito"/>
              </a:rPr>
              <a:t>Traditional authentication (passwords, OTPs, MFA) is static, verified only at login.</a:t>
            </a:r>
          </a:p>
          <a:p>
            <a:pPr algn="just" marL="674957" indent="-337478" lvl="1">
              <a:lnSpc>
                <a:spcPts val="4376"/>
              </a:lnSpc>
              <a:buFont typeface="Arial"/>
              <a:buChar char="•"/>
            </a:pPr>
            <a:r>
              <a:rPr lang="en-US" sz="3126">
                <a:solidFill>
                  <a:srgbClr val="000000"/>
                </a:solidFill>
                <a:latin typeface="Nunito"/>
                <a:ea typeface="Nunito"/>
                <a:cs typeface="Nunito"/>
                <a:sym typeface="Nunito"/>
              </a:rPr>
              <a:t>Password reuse and phishing attacks lead to high account compromise rates.</a:t>
            </a:r>
          </a:p>
          <a:p>
            <a:pPr algn="just" marL="674957" indent="-337478" lvl="1">
              <a:lnSpc>
                <a:spcPts val="4376"/>
              </a:lnSpc>
              <a:buFont typeface="Arial"/>
              <a:buChar char="•"/>
            </a:pPr>
            <a:r>
              <a:rPr lang="en-US" sz="3126">
                <a:solidFill>
                  <a:srgbClr val="000000"/>
                </a:solidFill>
                <a:latin typeface="Nunito"/>
                <a:ea typeface="Nunito"/>
                <a:cs typeface="Nunito"/>
                <a:sym typeface="Nunito"/>
              </a:rPr>
              <a:t>Existing continuous authentication systems often :</a:t>
            </a:r>
          </a:p>
          <a:p>
            <a:pPr algn="just" marL="1349914" indent="-449971" lvl="2">
              <a:lnSpc>
                <a:spcPts val="4376"/>
              </a:lnSpc>
              <a:buFont typeface="Arial"/>
              <a:buChar char="⚬"/>
            </a:pPr>
            <a:r>
              <a:rPr lang="en-US" sz="3126">
                <a:solidFill>
                  <a:srgbClr val="000000"/>
                </a:solidFill>
                <a:latin typeface="Nunito"/>
                <a:ea typeface="Nunito"/>
                <a:cs typeface="Nunito"/>
                <a:sym typeface="Nunito"/>
              </a:rPr>
              <a:t>Are mobile-focused (not web-based)</a:t>
            </a:r>
          </a:p>
          <a:p>
            <a:pPr algn="just" marL="1349914" indent="-449971" lvl="2">
              <a:lnSpc>
                <a:spcPts val="4376"/>
              </a:lnSpc>
              <a:buFont typeface="Arial"/>
              <a:buChar char="⚬"/>
            </a:pPr>
            <a:r>
              <a:rPr lang="en-US" sz="3126">
                <a:solidFill>
                  <a:srgbClr val="000000"/>
                </a:solidFill>
                <a:latin typeface="Nunito"/>
                <a:ea typeface="Nunito"/>
                <a:cs typeface="Nunito"/>
                <a:sym typeface="Nunito"/>
              </a:rPr>
              <a:t>Lack adaptability to user behavior changes</a:t>
            </a:r>
          </a:p>
          <a:p>
            <a:pPr algn="just" marL="1349914" indent="-449971" lvl="2">
              <a:lnSpc>
                <a:spcPts val="4376"/>
              </a:lnSpc>
              <a:buFont typeface="Arial"/>
              <a:buChar char="⚬"/>
            </a:pPr>
            <a:r>
              <a:rPr lang="en-US" sz="3126">
                <a:solidFill>
                  <a:srgbClr val="000000"/>
                </a:solidFill>
                <a:latin typeface="Nunito"/>
                <a:ea typeface="Nunito"/>
                <a:cs typeface="Nunito"/>
                <a:sym typeface="Nunito"/>
              </a:rPr>
              <a:t>Don’t integrate multi-modal behavioral patterns with context</a:t>
            </a:r>
          </a:p>
          <a:p>
            <a:pPr algn="just" marL="674957" indent="-337478" lvl="1">
              <a:lnSpc>
                <a:spcPts val="4376"/>
              </a:lnSpc>
              <a:buFont typeface="Arial"/>
              <a:buChar char="•"/>
            </a:pPr>
            <a:r>
              <a:rPr lang="en-US" b="true" sz="3126">
                <a:solidFill>
                  <a:srgbClr val="000000"/>
                </a:solidFill>
                <a:latin typeface="Nunito Bold"/>
                <a:ea typeface="Nunito Bold"/>
                <a:cs typeface="Nunito Bold"/>
                <a:sym typeface="Nunito Bold"/>
              </a:rPr>
              <a:t>Problem Statement</a:t>
            </a:r>
            <a:r>
              <a:rPr lang="en-US" sz="3126">
                <a:solidFill>
                  <a:srgbClr val="000000"/>
                </a:solidFill>
                <a:latin typeface="Nunito"/>
                <a:ea typeface="Nunito"/>
                <a:cs typeface="Nunito"/>
                <a:sym typeface="Nunito"/>
              </a:rPr>
              <a:t>: Need a web-based continuous authentication system that dynamically verifies users based on behavioral biometrics, adapts to behavioral drift, and minimizes friction for legitimate users.</a:t>
            </a:r>
          </a:p>
        </p:txBody>
      </p:sp>
      <p:sp>
        <p:nvSpPr>
          <p:cNvPr name="Freeform 6" id="6"/>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2319137" y="9258300"/>
            <a:ext cx="3911463" cy="3911463"/>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3" id="13"/>
          <p:cNvGrpSpPr/>
          <p:nvPr/>
        </p:nvGrpSpPr>
        <p:grpSpPr>
          <a:xfrm rot="0">
            <a:off x="2129385" y="-2859528"/>
            <a:ext cx="3911463" cy="3911463"/>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028700" y="1584789"/>
            <a:ext cx="16230600" cy="910579"/>
          </a:xfrm>
          <a:prstGeom prst="rect">
            <a:avLst/>
          </a:prstGeom>
        </p:spPr>
        <p:txBody>
          <a:bodyPr anchor="t" rtlCol="false" tIns="0" lIns="0" bIns="0" rIns="0">
            <a:spAutoFit/>
          </a:bodyPr>
          <a:lstStyle/>
          <a:p>
            <a:pPr algn="ctr">
              <a:lnSpc>
                <a:spcPts val="7560"/>
              </a:lnSpc>
            </a:pPr>
            <a:r>
              <a:rPr lang="en-US" b="true" sz="5400">
                <a:solidFill>
                  <a:srgbClr val="000000"/>
                </a:solidFill>
                <a:latin typeface="Proxima Nova Bold"/>
                <a:ea typeface="Proxima Nova Bold"/>
                <a:cs typeface="Proxima Nova Bold"/>
                <a:sym typeface="Proxima Nova Bold"/>
              </a:rPr>
              <a:t>OBJECTIVES</a:t>
            </a:r>
          </a:p>
        </p:txBody>
      </p:sp>
      <p:sp>
        <p:nvSpPr>
          <p:cNvPr name="TextBox 15" id="15"/>
          <p:cNvSpPr txBox="true"/>
          <p:nvPr/>
        </p:nvSpPr>
        <p:spPr>
          <a:xfrm rot="0">
            <a:off x="2819396" y="3517767"/>
            <a:ext cx="12649208" cy="3683133"/>
          </a:xfrm>
          <a:prstGeom prst="rect">
            <a:avLst/>
          </a:prstGeom>
        </p:spPr>
        <p:txBody>
          <a:bodyPr anchor="t" rtlCol="false" tIns="0" lIns="0" bIns="0" rIns="0">
            <a:spAutoFit/>
          </a:bodyPr>
          <a:lstStyle/>
          <a:p>
            <a:pPr algn="just" marL="754519" indent="-377259" lvl="1">
              <a:lnSpc>
                <a:spcPts val="4892"/>
              </a:lnSpc>
              <a:buFont typeface="Arial"/>
              <a:buChar char="•"/>
            </a:pPr>
            <a:r>
              <a:rPr lang="en-US" sz="3494">
                <a:solidFill>
                  <a:srgbClr val="000000"/>
                </a:solidFill>
                <a:latin typeface="Nunito"/>
                <a:ea typeface="Nunito"/>
                <a:cs typeface="Nunito"/>
                <a:sym typeface="Nunito"/>
              </a:rPr>
              <a:t>To design and implement a web-based adaptive continuous authentication system that monitors real-time keystroke and mouse behaviour, detects anomalous user activity through behavioural drift analysis</a:t>
            </a:r>
          </a:p>
          <a:p>
            <a:pPr algn="just" marL="754519" indent="-377259" lvl="1">
              <a:lnSpc>
                <a:spcPts val="4892"/>
              </a:lnSpc>
              <a:buFont typeface="Arial"/>
              <a:buChar char="•"/>
            </a:pPr>
            <a:r>
              <a:rPr lang="en-US" sz="3494">
                <a:solidFill>
                  <a:srgbClr val="000000"/>
                </a:solidFill>
                <a:latin typeface="Nunito"/>
                <a:ea typeface="Nunito"/>
                <a:cs typeface="Nunito"/>
                <a:sym typeface="Nunito"/>
              </a:rPr>
              <a:t>Triggers secure alert notifications and realtime verification for suspicious sessions.</a:t>
            </a:r>
          </a:p>
        </p:txBody>
      </p:sp>
      <p:sp>
        <p:nvSpPr>
          <p:cNvPr name="TextBox 16" id="1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1962800" y="-903796"/>
            <a:ext cx="3404467" cy="3404467"/>
          </a:xfrm>
          <a:custGeom>
            <a:avLst/>
            <a:gdLst/>
            <a:ahLst/>
            <a:cxnLst/>
            <a:rect r="r" b="b" t="t" l="l"/>
            <a:pathLst>
              <a:path h="3404467" w="3404467">
                <a:moveTo>
                  <a:pt x="0" y="0"/>
                </a:moveTo>
                <a:lnTo>
                  <a:pt x="3404467" y="0"/>
                </a:lnTo>
                <a:lnTo>
                  <a:pt x="3404467"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406699" y="8222531"/>
            <a:ext cx="3404467" cy="3404467"/>
          </a:xfrm>
          <a:custGeom>
            <a:avLst/>
            <a:gdLst/>
            <a:ahLst/>
            <a:cxnLst/>
            <a:rect r="r" b="b" t="t" l="l"/>
            <a:pathLst>
              <a:path h="3404467" w="3404467">
                <a:moveTo>
                  <a:pt x="0" y="0"/>
                </a:moveTo>
                <a:lnTo>
                  <a:pt x="3404467" y="0"/>
                </a:lnTo>
                <a:lnTo>
                  <a:pt x="3404467" y="3404467"/>
                </a:lnTo>
                <a:lnTo>
                  <a:pt x="0" y="34044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2251607" y="9483400"/>
            <a:ext cx="3911463" cy="3911463"/>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false" flipV="false" rot="0">
            <a:off x="17819666" y="8635498"/>
            <a:ext cx="2578533" cy="2578533"/>
          </a:xfrm>
          <a:custGeom>
            <a:avLst/>
            <a:gdLst/>
            <a:ahLst/>
            <a:cxnLst/>
            <a:rect r="r" b="b" t="t" l="l"/>
            <a:pathLst>
              <a:path h="2578533" w="2578533">
                <a:moveTo>
                  <a:pt x="0" y="0"/>
                </a:moveTo>
                <a:lnTo>
                  <a:pt x="2578533" y="0"/>
                </a:lnTo>
                <a:lnTo>
                  <a:pt x="2578533" y="2578533"/>
                </a:lnTo>
                <a:lnTo>
                  <a:pt x="0" y="25785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549833" y="-490830"/>
            <a:ext cx="2578533" cy="2578533"/>
          </a:xfrm>
          <a:custGeom>
            <a:avLst/>
            <a:gdLst/>
            <a:ahLst/>
            <a:cxnLst/>
            <a:rect r="r" b="b" t="t" l="l"/>
            <a:pathLst>
              <a:path h="2578533" w="2578533">
                <a:moveTo>
                  <a:pt x="0" y="0"/>
                </a:moveTo>
                <a:lnTo>
                  <a:pt x="2578533" y="0"/>
                </a:lnTo>
                <a:lnTo>
                  <a:pt x="2578533"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2129385" y="-2859528"/>
            <a:ext cx="3911463" cy="391146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aphicFrame>
        <p:nvGraphicFramePr>
          <p:cNvPr name="Table 12" id="12"/>
          <p:cNvGraphicFramePr>
            <a:graphicFrameLocks noGrp="true"/>
          </p:cNvGraphicFramePr>
          <p:nvPr/>
        </p:nvGraphicFramePr>
        <p:xfrm>
          <a:off x="576447" y="2056461"/>
          <a:ext cx="16830253" cy="7917943"/>
        </p:xfrm>
        <a:graphic>
          <a:graphicData uri="http://schemas.openxmlformats.org/drawingml/2006/table">
            <a:tbl>
              <a:tblPr/>
              <a:tblGrid>
                <a:gridCol w="4936474"/>
                <a:gridCol w="2849813"/>
                <a:gridCol w="1782244"/>
                <a:gridCol w="3450196"/>
                <a:gridCol w="3811526"/>
              </a:tblGrid>
              <a:tr h="937963">
                <a:tc>
                  <a:txBody>
                    <a:bodyPr anchor="t" rtlCol="false"/>
                    <a:lstStyle/>
                    <a:p>
                      <a:pPr algn="l">
                        <a:lnSpc>
                          <a:spcPts val="3499"/>
                        </a:lnSpc>
                        <a:defRPr/>
                      </a:pPr>
                      <a:r>
                        <a:rPr lang="en-US" sz="2499" b="true">
                          <a:solidFill>
                            <a:srgbClr val="000000"/>
                          </a:solidFill>
                          <a:latin typeface="Nunito Bold"/>
                          <a:ea typeface="Nunito Bold"/>
                          <a:cs typeface="Nunito Bold"/>
                          <a:sym typeface="Nunito Bold"/>
                        </a:rPr>
                        <a:t>Title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499"/>
                        </a:lnSpc>
                        <a:defRPr/>
                      </a:pPr>
                      <a:r>
                        <a:rPr lang="en-US" sz="2499" b="true">
                          <a:solidFill>
                            <a:srgbClr val="000000"/>
                          </a:solidFill>
                          <a:latin typeface="Nunito Bold"/>
                          <a:ea typeface="Nunito Bold"/>
                          <a:cs typeface="Nunito Bold"/>
                          <a:sym typeface="Nunito Bold"/>
                        </a:rPr>
                        <a:t>Author(s)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499"/>
                        </a:lnSpc>
                        <a:defRPr/>
                      </a:pPr>
                      <a:r>
                        <a:rPr lang="en-US" sz="2499" b="true">
                          <a:solidFill>
                            <a:srgbClr val="000000"/>
                          </a:solidFill>
                          <a:latin typeface="Nunito Bold"/>
                          <a:ea typeface="Nunito Bold"/>
                          <a:cs typeface="Nunito Bold"/>
                          <a:sym typeface="Nunito Bold"/>
                        </a:rPr>
                        <a:t>Year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499"/>
                        </a:lnSpc>
                        <a:defRPr/>
                      </a:pPr>
                      <a:r>
                        <a:rPr lang="en-US" sz="2499" b="true">
                          <a:solidFill>
                            <a:srgbClr val="000000"/>
                          </a:solidFill>
                          <a:latin typeface="Nunito Bold"/>
                          <a:ea typeface="Nunito Bold"/>
                          <a:cs typeface="Nunito Bold"/>
                          <a:sym typeface="Nunito Bold"/>
                        </a:rPr>
                        <a:t>Source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499"/>
                        </a:lnSpc>
                        <a:defRPr/>
                      </a:pPr>
                      <a:r>
                        <a:rPr lang="en-US" sz="2499" b="true">
                          <a:solidFill>
                            <a:srgbClr val="000000"/>
                          </a:solidFill>
                          <a:latin typeface="Nunito Bold"/>
                          <a:ea typeface="Nunito Bold"/>
                          <a:cs typeface="Nunito Bold"/>
                          <a:sym typeface="Nunito Bold"/>
                        </a:rPr>
                        <a:t>Relevance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2182200">
                <a:tc>
                  <a:txBody>
                    <a:bodyPr anchor="t" rtlCol="false"/>
                    <a:lstStyle/>
                    <a:p>
                      <a:pPr algn="l">
                        <a:lnSpc>
                          <a:spcPts val="3359"/>
                        </a:lnSpc>
                        <a:defRPr/>
                      </a:pPr>
                      <a:r>
                        <a:rPr lang="en-US" sz="2399" b="true">
                          <a:solidFill>
                            <a:srgbClr val="000000"/>
                          </a:solidFill>
                          <a:latin typeface="Nunito Bold"/>
                          <a:ea typeface="Nunito Bold"/>
                          <a:cs typeface="Nunito Bold"/>
                          <a:sym typeface="Nunito Bold"/>
                        </a:rPr>
                        <a:t>Behavioral Biometrics‑Powered Continuous Authentication for Zero‑Trust Remote Work Environments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359"/>
                        </a:lnSpc>
                        <a:defRPr/>
                      </a:pPr>
                      <a:r>
                        <a:rPr lang="en-US" sz="2399" b="true">
                          <a:solidFill>
                            <a:srgbClr val="000000"/>
                          </a:solidFill>
                          <a:latin typeface="Nunito Bold"/>
                          <a:ea typeface="Nunito Bold"/>
                          <a:cs typeface="Nunito Bold"/>
                          <a:sym typeface="Nunito Bold"/>
                        </a:rPr>
                        <a:t>Suleiman S. Abba et al.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359"/>
                        </a:lnSpc>
                        <a:defRPr/>
                      </a:pPr>
                      <a:r>
                        <a:rPr lang="en-US" sz="2399" b="true">
                          <a:solidFill>
                            <a:srgbClr val="000000"/>
                          </a:solidFill>
                          <a:latin typeface="Arimo Bold"/>
                          <a:ea typeface="Arimo Bold"/>
                          <a:cs typeface="Arimo Bold"/>
                          <a:sym typeface="Arimo Bold"/>
                        </a:rPr>
                        <a:t>2025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359"/>
                        </a:lnSpc>
                        <a:defRPr/>
                      </a:pPr>
                      <a:r>
                        <a:rPr lang="en-US" sz="2399" b="true">
                          <a:solidFill>
                            <a:srgbClr val="000000"/>
                          </a:solidFill>
                          <a:latin typeface="Nunito Bold"/>
                          <a:ea typeface="Nunito Bold"/>
                          <a:cs typeface="Nunito Bold"/>
                          <a:sym typeface="Nunito Bold"/>
                        </a:rPr>
                        <a:t>Asian Journal of Research in Computer Science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359"/>
                        </a:lnSpc>
                        <a:defRPr/>
                      </a:pPr>
                      <a:r>
                        <a:rPr lang="en-US" sz="2399" b="true">
                          <a:solidFill>
                            <a:srgbClr val="000000"/>
                          </a:solidFill>
                          <a:latin typeface="Nunito Bold"/>
                          <a:ea typeface="Nunito Bold"/>
                          <a:cs typeface="Nunito Bold"/>
                          <a:sym typeface="Nunito Bold"/>
                        </a:rPr>
                        <a:t>Real‑time continuous authentication with ensemble ML + context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2194452">
                <a:tc>
                  <a:txBody>
                    <a:bodyPr anchor="t" rtlCol="false"/>
                    <a:lstStyle/>
                    <a:p>
                      <a:pPr algn="l">
                        <a:lnSpc>
                          <a:spcPts val="3359"/>
                        </a:lnSpc>
                        <a:defRPr/>
                      </a:pPr>
                      <a:r>
                        <a:rPr lang="en-US" sz="2399" b="true">
                          <a:solidFill>
                            <a:srgbClr val="000000"/>
                          </a:solidFill>
                          <a:latin typeface="Nunito Bold"/>
                          <a:ea typeface="Nunito Bold"/>
                          <a:cs typeface="Nunito Bold"/>
                          <a:sym typeface="Nunito Bold"/>
                        </a:rPr>
                        <a:t>Continuous Authentication in the Digital Age: An Analysis of Reinforcement Learning and Behavioral Biometrics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359"/>
                        </a:lnSpc>
                        <a:defRPr/>
                      </a:pPr>
                      <a:r>
                        <a:rPr lang="en-US" sz="2399" b="true">
                          <a:solidFill>
                            <a:srgbClr val="000000"/>
                          </a:solidFill>
                          <a:latin typeface="Nunito Bold"/>
                          <a:ea typeface="Nunito Bold"/>
                          <a:cs typeface="Nunito Bold"/>
                          <a:sym typeface="Nunito Bold"/>
                        </a:rPr>
                        <a:t>Priya Bansal &amp; Abdelkader Ouda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359"/>
                        </a:lnSpc>
                        <a:defRPr/>
                      </a:pPr>
                      <a:r>
                        <a:rPr lang="en-US" sz="2399" b="true">
                          <a:solidFill>
                            <a:srgbClr val="000000"/>
                          </a:solidFill>
                          <a:latin typeface="Nunito Bold"/>
                          <a:ea typeface="Nunito Bold"/>
                          <a:cs typeface="Nunito Bold"/>
                          <a:sym typeface="Nunito Bold"/>
                        </a:rPr>
                        <a:t>2024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359"/>
                        </a:lnSpc>
                        <a:defRPr/>
                      </a:pPr>
                      <a:r>
                        <a:rPr lang="en-US" sz="2399" b="true">
                          <a:solidFill>
                            <a:srgbClr val="000000"/>
                          </a:solidFill>
                          <a:latin typeface="Nunito Bold"/>
                          <a:ea typeface="Nunito Bold"/>
                          <a:cs typeface="Nunito Bold"/>
                          <a:sym typeface="Nunito Bold"/>
                        </a:rPr>
                        <a:t>Computers (MDPI)</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359"/>
                        </a:lnSpc>
                        <a:defRPr/>
                      </a:pPr>
                      <a:r>
                        <a:rPr lang="en-US" sz="2399" b="true">
                          <a:solidFill>
                            <a:srgbClr val="000000"/>
                          </a:solidFill>
                          <a:latin typeface="Nunito Bold"/>
                          <a:ea typeface="Nunito Bold"/>
                          <a:cs typeface="Nunito Bold"/>
                          <a:sym typeface="Nunito Bold"/>
                        </a:rPr>
                        <a:t>RL‑based keystroke continuous authentication model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2603327">
                <a:tc>
                  <a:txBody>
                    <a:bodyPr anchor="t" rtlCol="false"/>
                    <a:lstStyle/>
                    <a:p>
                      <a:pPr algn="l">
                        <a:lnSpc>
                          <a:spcPts val="3359"/>
                        </a:lnSpc>
                        <a:defRPr/>
                      </a:pPr>
                      <a:r>
                        <a:rPr lang="en-US" sz="2399" b="true">
                          <a:solidFill>
                            <a:srgbClr val="000000"/>
                          </a:solidFill>
                          <a:latin typeface="Nunito Bold"/>
                          <a:ea typeface="Nunito Bold"/>
                          <a:cs typeface="Nunito Bold"/>
                          <a:sym typeface="Nunito Bold"/>
                        </a:rPr>
                        <a:t>Machine learning‑based novel continuous authentication system using soft keyboard typing behavior and motion sensor data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359"/>
                        </a:lnSpc>
                        <a:defRPr/>
                      </a:pPr>
                      <a:r>
                        <a:rPr lang="en-US" sz="2399" b="true">
                          <a:solidFill>
                            <a:srgbClr val="000000"/>
                          </a:solidFill>
                          <a:latin typeface="Nunito Bold"/>
                          <a:ea typeface="Nunito Bold"/>
                          <a:cs typeface="Nunito Bold"/>
                          <a:sym typeface="Nunito Bold"/>
                        </a:rPr>
                        <a:t>Ensar Arif Sağbaş &amp; Serkan Ballı</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359"/>
                        </a:lnSpc>
                        <a:defRPr/>
                      </a:pPr>
                      <a:r>
                        <a:rPr lang="en-US" sz="2399" b="true">
                          <a:solidFill>
                            <a:srgbClr val="000000"/>
                          </a:solidFill>
                          <a:latin typeface="Nunito Bold"/>
                          <a:ea typeface="Nunito Bold"/>
                          <a:cs typeface="Nunito Bold"/>
                          <a:sym typeface="Nunito Bold"/>
                        </a:rPr>
                        <a:t>2024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359"/>
                        </a:lnSpc>
                        <a:defRPr/>
                      </a:pPr>
                      <a:r>
                        <a:rPr lang="en-US" sz="2399" b="true">
                          <a:solidFill>
                            <a:srgbClr val="000000"/>
                          </a:solidFill>
                          <a:latin typeface="Nunito Bold"/>
                          <a:ea typeface="Nunito Bold"/>
                          <a:cs typeface="Nunito Bold"/>
                          <a:sym typeface="Nunito Bold"/>
                        </a:rPr>
                        <a:t>Neural Computing and Applications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359"/>
                        </a:lnSpc>
                        <a:defRPr/>
                      </a:pPr>
                      <a:r>
                        <a:rPr lang="en-US" sz="2399" b="true">
                          <a:solidFill>
                            <a:srgbClr val="000000"/>
                          </a:solidFill>
                          <a:latin typeface="Nunito Bold"/>
                          <a:ea typeface="Nunito Bold"/>
                          <a:cs typeface="Nunito Bold"/>
                          <a:sym typeface="Nunito Bold"/>
                        </a:rPr>
                        <a:t>Multi‑modal behavioral authentication using typing + sensors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13" id="13"/>
          <p:cNvSpPr txBox="true"/>
          <p:nvPr/>
        </p:nvSpPr>
        <p:spPr>
          <a:xfrm rot="0">
            <a:off x="1028700" y="703187"/>
            <a:ext cx="16230600" cy="898949"/>
          </a:xfrm>
          <a:prstGeom prst="rect">
            <a:avLst/>
          </a:prstGeom>
        </p:spPr>
        <p:txBody>
          <a:bodyPr anchor="t" rtlCol="false" tIns="0" lIns="0" bIns="0" rIns="0">
            <a:spAutoFit/>
          </a:bodyPr>
          <a:lstStyle/>
          <a:p>
            <a:pPr algn="ctr">
              <a:lnSpc>
                <a:spcPts val="7383"/>
              </a:lnSpc>
            </a:pPr>
            <a:r>
              <a:rPr lang="en-US" b="true" sz="5273">
                <a:solidFill>
                  <a:srgbClr val="000000"/>
                </a:solidFill>
                <a:latin typeface="Proxima Nova Bold"/>
                <a:ea typeface="Proxima Nova Bold"/>
                <a:cs typeface="Proxima Nova Bold"/>
                <a:sym typeface="Proxima Nova Bold"/>
              </a:rPr>
              <a:t>LITERATURE REVIEW </a:t>
            </a:r>
          </a:p>
        </p:txBody>
      </p:sp>
      <p:sp>
        <p:nvSpPr>
          <p:cNvPr name="TextBox 14" id="14"/>
          <p:cNvSpPr txBox="true"/>
          <p:nvPr/>
        </p:nvSpPr>
        <p:spPr>
          <a:xfrm rot="0">
            <a:off x="17672267" y="9284963"/>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3443940" y="2039671"/>
            <a:ext cx="11400119" cy="7503099"/>
          </a:xfrm>
          <a:custGeom>
            <a:avLst/>
            <a:gdLst/>
            <a:ahLst/>
            <a:cxnLst/>
            <a:rect r="r" b="b" t="t" l="l"/>
            <a:pathLst>
              <a:path h="7503099" w="11400119">
                <a:moveTo>
                  <a:pt x="0" y="0"/>
                </a:moveTo>
                <a:lnTo>
                  <a:pt x="11400120" y="0"/>
                </a:lnTo>
                <a:lnTo>
                  <a:pt x="11400120" y="7503099"/>
                </a:lnTo>
                <a:lnTo>
                  <a:pt x="0" y="7503099"/>
                </a:lnTo>
                <a:lnTo>
                  <a:pt x="0" y="0"/>
                </a:lnTo>
                <a:close/>
              </a:path>
            </a:pathLst>
          </a:custGeom>
          <a:blipFill>
            <a:blip r:embed="rId4"/>
            <a:stretch>
              <a:fillRect l="0" t="0" r="-178" b="0"/>
            </a:stretch>
          </a:blipFill>
        </p:spPr>
      </p:sp>
      <p:sp>
        <p:nvSpPr>
          <p:cNvPr name="TextBox 15" id="15"/>
          <p:cNvSpPr txBox="true"/>
          <p:nvPr/>
        </p:nvSpPr>
        <p:spPr>
          <a:xfrm rot="0">
            <a:off x="3959535" y="933450"/>
            <a:ext cx="10117768" cy="887095"/>
          </a:xfrm>
          <a:prstGeom prst="rect">
            <a:avLst/>
          </a:prstGeom>
        </p:spPr>
        <p:txBody>
          <a:bodyPr anchor="t" rtlCol="false" tIns="0" lIns="0" bIns="0" rIns="0">
            <a:spAutoFit/>
          </a:bodyPr>
          <a:lstStyle/>
          <a:p>
            <a:pPr algn="ctr">
              <a:lnSpc>
                <a:spcPts val="7279"/>
              </a:lnSpc>
            </a:pPr>
            <a:r>
              <a:rPr lang="en-US" b="true" sz="5199">
                <a:solidFill>
                  <a:srgbClr val="000000"/>
                </a:solidFill>
                <a:latin typeface="Proxima Nova Bold"/>
                <a:ea typeface="Proxima Nova Bold"/>
                <a:cs typeface="Proxima Nova Bold"/>
                <a:sym typeface="Proxima Nova Bold"/>
              </a:rPr>
              <a:t>PRODUCT BACKLOG</a:t>
            </a:r>
          </a:p>
        </p:txBody>
      </p:sp>
      <p:sp>
        <p:nvSpPr>
          <p:cNvPr name="TextBox 16" id="1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2645628" y="1822895"/>
            <a:ext cx="13128541" cy="6802636"/>
          </a:xfrm>
          <a:custGeom>
            <a:avLst/>
            <a:gdLst/>
            <a:ahLst/>
            <a:cxnLst/>
            <a:rect r="r" b="b" t="t" l="l"/>
            <a:pathLst>
              <a:path h="6802636" w="13128541">
                <a:moveTo>
                  <a:pt x="0" y="0"/>
                </a:moveTo>
                <a:lnTo>
                  <a:pt x="13128541" y="0"/>
                </a:lnTo>
                <a:lnTo>
                  <a:pt x="13128541" y="6802636"/>
                </a:lnTo>
                <a:lnTo>
                  <a:pt x="0" y="6802636"/>
                </a:lnTo>
                <a:lnTo>
                  <a:pt x="0" y="0"/>
                </a:lnTo>
                <a:close/>
              </a:path>
            </a:pathLst>
          </a:custGeom>
          <a:blipFill>
            <a:blip r:embed="rId4"/>
            <a:stretch>
              <a:fillRect l="-1003" t="-2372" r="0" b="0"/>
            </a:stretch>
          </a:blipFill>
        </p:spPr>
      </p:sp>
      <p:sp>
        <p:nvSpPr>
          <p:cNvPr name="TextBox 15" id="1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00" y="956685"/>
            <a:ext cx="16230600" cy="887095"/>
          </a:xfrm>
          <a:prstGeom prst="rect">
            <a:avLst/>
          </a:prstGeom>
        </p:spPr>
        <p:txBody>
          <a:bodyPr anchor="t" rtlCol="false" tIns="0" lIns="0" bIns="0" rIns="0">
            <a:spAutoFit/>
          </a:bodyPr>
          <a:lstStyle/>
          <a:p>
            <a:pPr algn="ctr">
              <a:lnSpc>
                <a:spcPts val="7280"/>
              </a:lnSpc>
            </a:pPr>
            <a:r>
              <a:rPr lang="en-US" b="true" sz="5200">
                <a:solidFill>
                  <a:srgbClr val="000000"/>
                </a:solidFill>
                <a:latin typeface="Proxima Nova Bold"/>
                <a:ea typeface="Proxima Nova Bold"/>
                <a:cs typeface="Proxima Nova Bold"/>
                <a:sym typeface="Proxima Nova Bold"/>
              </a:rPr>
              <a:t>SPRINT BACKLOG</a:t>
            </a:r>
          </a:p>
        </p:txBody>
      </p:sp>
      <p:grpSp>
        <p:nvGrpSpPr>
          <p:cNvPr name="Group 5" id="5"/>
          <p:cNvGrpSpPr/>
          <p:nvPr/>
        </p:nvGrpSpPr>
        <p:grpSpPr>
          <a:xfrm rot="0">
            <a:off x="12319137" y="9258300"/>
            <a:ext cx="3911463" cy="391146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2129385" y="-2859528"/>
            <a:ext cx="3911463" cy="391146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3062415" y="2500670"/>
            <a:ext cx="12163171" cy="2533994"/>
          </a:xfrm>
          <a:custGeom>
            <a:avLst/>
            <a:gdLst/>
            <a:ahLst/>
            <a:cxnLst/>
            <a:rect r="r" b="b" t="t" l="l"/>
            <a:pathLst>
              <a:path h="2533994" w="12163171">
                <a:moveTo>
                  <a:pt x="0" y="0"/>
                </a:moveTo>
                <a:lnTo>
                  <a:pt x="12163170" y="0"/>
                </a:lnTo>
                <a:lnTo>
                  <a:pt x="12163170" y="2533994"/>
                </a:lnTo>
                <a:lnTo>
                  <a:pt x="0" y="2533994"/>
                </a:lnTo>
                <a:lnTo>
                  <a:pt x="0" y="0"/>
                </a:lnTo>
                <a:close/>
              </a:path>
            </a:pathLst>
          </a:custGeom>
          <a:blipFill>
            <a:blip r:embed="rId4"/>
            <a:stretch>
              <a:fillRect l="0" t="0" r="0" b="0"/>
            </a:stretch>
          </a:blipFill>
        </p:spPr>
      </p:sp>
      <p:sp>
        <p:nvSpPr>
          <p:cNvPr name="Freeform 13" id="13"/>
          <p:cNvSpPr/>
          <p:nvPr/>
        </p:nvSpPr>
        <p:spPr>
          <a:xfrm flipH="false" flipV="false" rot="0">
            <a:off x="3062415" y="5470571"/>
            <a:ext cx="12163171" cy="2921211"/>
          </a:xfrm>
          <a:custGeom>
            <a:avLst/>
            <a:gdLst/>
            <a:ahLst/>
            <a:cxnLst/>
            <a:rect r="r" b="b" t="t" l="l"/>
            <a:pathLst>
              <a:path h="2921211" w="12163171">
                <a:moveTo>
                  <a:pt x="0" y="0"/>
                </a:moveTo>
                <a:lnTo>
                  <a:pt x="12163170" y="0"/>
                </a:lnTo>
                <a:lnTo>
                  <a:pt x="12163170" y="2921211"/>
                </a:lnTo>
                <a:lnTo>
                  <a:pt x="0" y="2921211"/>
                </a:lnTo>
                <a:lnTo>
                  <a:pt x="0" y="0"/>
                </a:lnTo>
                <a:close/>
              </a:path>
            </a:pathLst>
          </a:custGeom>
          <a:blipFill>
            <a:blip r:embed="rId5"/>
            <a:stretch>
              <a:fillRect l="0" t="0" r="0" b="0"/>
            </a:stretch>
          </a:blipFill>
        </p:spPr>
      </p:sp>
      <p:sp>
        <p:nvSpPr>
          <p:cNvPr name="TextBox 14" id="1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3170906" y="5068094"/>
            <a:ext cx="11946188" cy="4265612"/>
          </a:xfrm>
          <a:custGeom>
            <a:avLst/>
            <a:gdLst/>
            <a:ahLst/>
            <a:cxnLst/>
            <a:rect r="r" b="b" t="t" l="l"/>
            <a:pathLst>
              <a:path h="4265612" w="11946188">
                <a:moveTo>
                  <a:pt x="0" y="0"/>
                </a:moveTo>
                <a:lnTo>
                  <a:pt x="11946188" y="0"/>
                </a:lnTo>
                <a:lnTo>
                  <a:pt x="11946188" y="4265612"/>
                </a:lnTo>
                <a:lnTo>
                  <a:pt x="0" y="4265612"/>
                </a:lnTo>
                <a:lnTo>
                  <a:pt x="0" y="0"/>
                </a:lnTo>
                <a:close/>
              </a:path>
            </a:pathLst>
          </a:custGeom>
          <a:blipFill>
            <a:blip r:embed="rId4"/>
            <a:stretch>
              <a:fillRect l="0" t="-75057" r="-1837" b="-13889"/>
            </a:stretch>
          </a:blipFill>
        </p:spPr>
      </p:sp>
      <p:sp>
        <p:nvSpPr>
          <p:cNvPr name="Freeform 15" id="15"/>
          <p:cNvSpPr/>
          <p:nvPr/>
        </p:nvSpPr>
        <p:spPr>
          <a:xfrm flipH="false" flipV="false" rot="0">
            <a:off x="3163017" y="2087704"/>
            <a:ext cx="11961966" cy="2915729"/>
          </a:xfrm>
          <a:custGeom>
            <a:avLst/>
            <a:gdLst/>
            <a:ahLst/>
            <a:cxnLst/>
            <a:rect r="r" b="b" t="t" l="l"/>
            <a:pathLst>
              <a:path h="2915729" w="11961966">
                <a:moveTo>
                  <a:pt x="0" y="0"/>
                </a:moveTo>
                <a:lnTo>
                  <a:pt x="11961966" y="0"/>
                </a:lnTo>
                <a:lnTo>
                  <a:pt x="11961966" y="2915729"/>
                </a:lnTo>
                <a:lnTo>
                  <a:pt x="0" y="2915729"/>
                </a:lnTo>
                <a:lnTo>
                  <a:pt x="0" y="0"/>
                </a:lnTo>
                <a:close/>
              </a:path>
            </a:pathLst>
          </a:custGeom>
          <a:blipFill>
            <a:blip r:embed="rId5"/>
            <a:stretch>
              <a:fillRect l="0" t="0" r="0" b="0"/>
            </a:stretch>
          </a:blipFill>
        </p:spPr>
      </p:sp>
      <p:sp>
        <p:nvSpPr>
          <p:cNvPr name="TextBox 16" id="16"/>
          <p:cNvSpPr txBox="true"/>
          <p:nvPr/>
        </p:nvSpPr>
        <p:spPr>
          <a:xfrm rot="0">
            <a:off x="4157101" y="933450"/>
            <a:ext cx="10117768" cy="887095"/>
          </a:xfrm>
          <a:prstGeom prst="rect">
            <a:avLst/>
          </a:prstGeom>
        </p:spPr>
        <p:txBody>
          <a:bodyPr anchor="t" rtlCol="false" tIns="0" lIns="0" bIns="0" rIns="0">
            <a:spAutoFit/>
          </a:bodyPr>
          <a:lstStyle/>
          <a:p>
            <a:pPr algn="ctr">
              <a:lnSpc>
                <a:spcPts val="7279"/>
              </a:lnSpc>
            </a:pPr>
            <a:r>
              <a:rPr lang="en-US" b="true" sz="5199">
                <a:solidFill>
                  <a:srgbClr val="000000"/>
                </a:solidFill>
                <a:latin typeface="Proxima Nova Bold"/>
                <a:ea typeface="Proxima Nova Bold"/>
                <a:cs typeface="Proxima Nova Bold"/>
                <a:sym typeface="Proxima Nova Bold"/>
              </a:rPr>
              <a:t>SPRINT 1 BURNDOWN CHART</a:t>
            </a:r>
          </a:p>
        </p:txBody>
      </p:sp>
      <p:sp>
        <p:nvSpPr>
          <p:cNvPr name="TextBox 17" id="1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3493371" y="5632973"/>
            <a:ext cx="11301259" cy="4024076"/>
          </a:xfrm>
          <a:custGeom>
            <a:avLst/>
            <a:gdLst/>
            <a:ahLst/>
            <a:cxnLst/>
            <a:rect r="r" b="b" t="t" l="l"/>
            <a:pathLst>
              <a:path h="4024076" w="11301259">
                <a:moveTo>
                  <a:pt x="0" y="0"/>
                </a:moveTo>
                <a:lnTo>
                  <a:pt x="11301258" y="0"/>
                </a:lnTo>
                <a:lnTo>
                  <a:pt x="11301258" y="4024076"/>
                </a:lnTo>
                <a:lnTo>
                  <a:pt x="0" y="4024076"/>
                </a:lnTo>
                <a:lnTo>
                  <a:pt x="0" y="0"/>
                </a:lnTo>
                <a:close/>
              </a:path>
            </a:pathLst>
          </a:custGeom>
          <a:blipFill>
            <a:blip r:embed="rId4"/>
            <a:stretch>
              <a:fillRect l="-1625" t="-83730" r="-4421" b="-4271"/>
            </a:stretch>
          </a:blipFill>
        </p:spPr>
      </p:sp>
      <p:sp>
        <p:nvSpPr>
          <p:cNvPr name="Freeform 15" id="15"/>
          <p:cNvSpPr/>
          <p:nvPr/>
        </p:nvSpPr>
        <p:spPr>
          <a:xfrm flipH="false" flipV="false" rot="0">
            <a:off x="3493371" y="2256722"/>
            <a:ext cx="11301259" cy="3376251"/>
          </a:xfrm>
          <a:custGeom>
            <a:avLst/>
            <a:gdLst/>
            <a:ahLst/>
            <a:cxnLst/>
            <a:rect r="r" b="b" t="t" l="l"/>
            <a:pathLst>
              <a:path h="3376251" w="11301259">
                <a:moveTo>
                  <a:pt x="0" y="0"/>
                </a:moveTo>
                <a:lnTo>
                  <a:pt x="11301258" y="0"/>
                </a:lnTo>
                <a:lnTo>
                  <a:pt x="11301258" y="3376251"/>
                </a:lnTo>
                <a:lnTo>
                  <a:pt x="0" y="3376251"/>
                </a:lnTo>
                <a:lnTo>
                  <a:pt x="0" y="0"/>
                </a:lnTo>
                <a:close/>
              </a:path>
            </a:pathLst>
          </a:custGeom>
          <a:blipFill>
            <a:blip r:embed="rId5"/>
            <a:stretch>
              <a:fillRect l="0" t="0" r="0" b="0"/>
            </a:stretch>
          </a:blipFill>
        </p:spPr>
      </p:sp>
      <p:sp>
        <p:nvSpPr>
          <p:cNvPr name="TextBox 16" id="16"/>
          <p:cNvSpPr txBox="true"/>
          <p:nvPr/>
        </p:nvSpPr>
        <p:spPr>
          <a:xfrm rot="0">
            <a:off x="4085116" y="933450"/>
            <a:ext cx="10117768" cy="887095"/>
          </a:xfrm>
          <a:prstGeom prst="rect">
            <a:avLst/>
          </a:prstGeom>
        </p:spPr>
        <p:txBody>
          <a:bodyPr anchor="t" rtlCol="false" tIns="0" lIns="0" bIns="0" rIns="0">
            <a:spAutoFit/>
          </a:bodyPr>
          <a:lstStyle/>
          <a:p>
            <a:pPr algn="ctr">
              <a:lnSpc>
                <a:spcPts val="7279"/>
              </a:lnSpc>
            </a:pPr>
            <a:r>
              <a:rPr lang="en-US" b="true" sz="5199">
                <a:solidFill>
                  <a:srgbClr val="000000"/>
                </a:solidFill>
                <a:latin typeface="Proxima Nova Bold"/>
                <a:ea typeface="Proxima Nova Bold"/>
                <a:cs typeface="Proxima Nova Bold"/>
                <a:sym typeface="Proxima Nova Bold"/>
              </a:rPr>
              <a:t>SPRINT 2 BURNDOWN CHART</a:t>
            </a:r>
          </a:p>
        </p:txBody>
      </p:sp>
      <p:sp>
        <p:nvSpPr>
          <p:cNvPr name="TextBox 17" id="1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00" y="933450"/>
            <a:ext cx="16230600" cy="887095"/>
          </a:xfrm>
          <a:prstGeom prst="rect">
            <a:avLst/>
          </a:prstGeom>
        </p:spPr>
        <p:txBody>
          <a:bodyPr anchor="t" rtlCol="false" tIns="0" lIns="0" bIns="0" rIns="0">
            <a:spAutoFit/>
          </a:bodyPr>
          <a:lstStyle/>
          <a:p>
            <a:pPr algn="ctr">
              <a:lnSpc>
                <a:spcPts val="7279"/>
              </a:lnSpc>
            </a:pPr>
            <a:r>
              <a:rPr lang="en-US" b="true" sz="5199">
                <a:solidFill>
                  <a:srgbClr val="000000"/>
                </a:solidFill>
                <a:latin typeface="Proxima Nova Bold"/>
                <a:ea typeface="Proxima Nova Bold"/>
                <a:cs typeface="Proxima Nova Bold"/>
                <a:sym typeface="Proxima Nova Bold"/>
              </a:rPr>
              <a:t>PROJECT UPDATE</a:t>
            </a:r>
          </a:p>
        </p:txBody>
      </p:sp>
      <p:sp>
        <p:nvSpPr>
          <p:cNvPr name="TextBox 5" id="5"/>
          <p:cNvSpPr txBox="true"/>
          <p:nvPr/>
        </p:nvSpPr>
        <p:spPr>
          <a:xfrm rot="0">
            <a:off x="3329654" y="2283173"/>
            <a:ext cx="11628691" cy="6146165"/>
          </a:xfrm>
          <a:prstGeom prst="rect">
            <a:avLst/>
          </a:prstGeom>
        </p:spPr>
        <p:txBody>
          <a:bodyPr anchor="t" rtlCol="false" tIns="0" lIns="0" bIns="0" rIns="0">
            <a:spAutoFit/>
          </a:bodyPr>
          <a:lstStyle/>
          <a:p>
            <a:pPr algn="l">
              <a:lnSpc>
                <a:spcPts val="4059"/>
              </a:lnSpc>
            </a:pPr>
            <a:r>
              <a:rPr lang="en-US" sz="2899" b="true">
                <a:solidFill>
                  <a:srgbClr val="000000"/>
                </a:solidFill>
                <a:latin typeface="Nunito Bold"/>
                <a:ea typeface="Nunito Bold"/>
                <a:cs typeface="Nunito Bold"/>
                <a:sym typeface="Nunito Bold"/>
              </a:rPr>
              <a:t>What has been completed:</a:t>
            </a:r>
          </a:p>
          <a:p>
            <a:pPr algn="just" marL="626109" indent="-313054" lvl="1">
              <a:lnSpc>
                <a:spcPts val="4059"/>
              </a:lnSpc>
              <a:buFont typeface="Arial"/>
              <a:buChar char="•"/>
            </a:pPr>
            <a:r>
              <a:rPr lang="en-US" sz="2899">
                <a:solidFill>
                  <a:srgbClr val="000000"/>
                </a:solidFill>
                <a:latin typeface="Nunito"/>
                <a:ea typeface="Nunito"/>
                <a:cs typeface="Nunito"/>
                <a:sym typeface="Nunito"/>
              </a:rPr>
              <a:t>Real-time behavioural data collection using Flask backend</a:t>
            </a:r>
          </a:p>
          <a:p>
            <a:pPr algn="just" marL="626109" indent="-313054" lvl="1">
              <a:lnSpc>
                <a:spcPts val="4059"/>
              </a:lnSpc>
              <a:buFont typeface="Arial"/>
              <a:buChar char="•"/>
            </a:pPr>
            <a:r>
              <a:rPr lang="en-US" sz="2899">
                <a:solidFill>
                  <a:srgbClr val="000000"/>
                </a:solidFill>
                <a:latin typeface="Nunito"/>
                <a:ea typeface="Nunito"/>
                <a:cs typeface="Nunito"/>
                <a:sym typeface="Nunito"/>
              </a:rPr>
              <a:t>Robust behaviour log management with error handling</a:t>
            </a:r>
          </a:p>
          <a:p>
            <a:pPr algn="just" marL="626109" indent="-313054" lvl="1">
              <a:lnSpc>
                <a:spcPts val="4059"/>
              </a:lnSpc>
              <a:buFont typeface="Arial"/>
              <a:buChar char="•"/>
            </a:pPr>
            <a:r>
              <a:rPr lang="en-US" sz="2899">
                <a:solidFill>
                  <a:srgbClr val="000000"/>
                </a:solidFill>
                <a:latin typeface="Nunito"/>
                <a:ea typeface="Nunito"/>
                <a:cs typeface="Nunito"/>
                <a:sym typeface="Nunito"/>
              </a:rPr>
              <a:t>Extraction of keystroke and mouse-based behavioural features</a:t>
            </a:r>
          </a:p>
          <a:p>
            <a:pPr algn="just" marL="626109" indent="-313054" lvl="1">
              <a:lnSpc>
                <a:spcPts val="4059"/>
              </a:lnSpc>
              <a:buFont typeface="Arial"/>
              <a:buChar char="•"/>
            </a:pPr>
            <a:r>
              <a:rPr lang="en-US" sz="2899">
                <a:solidFill>
                  <a:srgbClr val="000000"/>
                </a:solidFill>
                <a:latin typeface="Nunito"/>
                <a:ea typeface="Nunito"/>
                <a:cs typeface="Nunito"/>
                <a:sym typeface="Nunito"/>
              </a:rPr>
              <a:t>Creation of baseline and current behavioural profiles</a:t>
            </a:r>
          </a:p>
          <a:p>
            <a:pPr algn="just" marL="626109" indent="-313054" lvl="1">
              <a:lnSpc>
                <a:spcPts val="4059"/>
              </a:lnSpc>
              <a:buFont typeface="Arial"/>
              <a:buChar char="•"/>
            </a:pPr>
            <a:r>
              <a:rPr lang="en-US" sz="2899">
                <a:solidFill>
                  <a:srgbClr val="000000"/>
                </a:solidFill>
                <a:latin typeface="Nunito"/>
                <a:ea typeface="Nunito"/>
                <a:cs typeface="Nunito"/>
                <a:sym typeface="Nunito"/>
              </a:rPr>
              <a:t>Verified behavioural drift detection using real user data</a:t>
            </a:r>
          </a:p>
          <a:p>
            <a:pPr algn="just" marL="626109" indent="-313054" lvl="1">
              <a:lnSpc>
                <a:spcPts val="4059"/>
              </a:lnSpc>
              <a:buFont typeface="Arial"/>
              <a:buChar char="•"/>
            </a:pPr>
            <a:r>
              <a:rPr lang="en-US" sz="2899">
                <a:solidFill>
                  <a:srgbClr val="000000"/>
                </a:solidFill>
                <a:latin typeface="Nunito"/>
                <a:ea typeface="Nunito"/>
                <a:cs typeface="Nunito"/>
                <a:sym typeface="Nunito"/>
              </a:rPr>
              <a:t>Email alert mechanism with cooldown to prevent spam</a:t>
            </a:r>
          </a:p>
          <a:p>
            <a:pPr algn="just">
              <a:lnSpc>
                <a:spcPts val="4059"/>
              </a:lnSpc>
            </a:pPr>
            <a:r>
              <a:rPr lang="en-US" sz="2899" b="true">
                <a:solidFill>
                  <a:srgbClr val="000000"/>
                </a:solidFill>
                <a:latin typeface="Nunito Bold"/>
                <a:ea typeface="Nunito Bold"/>
                <a:cs typeface="Nunito Bold"/>
                <a:sym typeface="Nunito Bold"/>
              </a:rPr>
              <a:t>What is in progress:</a:t>
            </a:r>
          </a:p>
          <a:p>
            <a:pPr algn="just" marL="626109" indent="-313054" lvl="1">
              <a:lnSpc>
                <a:spcPts val="4059"/>
              </a:lnSpc>
              <a:buFont typeface="Arial"/>
              <a:buChar char="•"/>
            </a:pPr>
            <a:r>
              <a:rPr lang="en-US" sz="2899">
                <a:solidFill>
                  <a:srgbClr val="000000"/>
                </a:solidFill>
                <a:latin typeface="Nunito"/>
                <a:ea typeface="Nunito"/>
                <a:cs typeface="Nunito"/>
                <a:sym typeface="Nunito"/>
              </a:rPr>
              <a:t>Stabilising execution flow between modules</a:t>
            </a:r>
          </a:p>
          <a:p>
            <a:pPr algn="just" marL="626109" indent="-313054" lvl="1">
              <a:lnSpc>
                <a:spcPts val="4059"/>
              </a:lnSpc>
              <a:buFont typeface="Arial"/>
              <a:buChar char="•"/>
            </a:pPr>
            <a:r>
              <a:rPr lang="en-US" sz="2899">
                <a:solidFill>
                  <a:srgbClr val="000000"/>
                </a:solidFill>
                <a:latin typeface="Nunito"/>
                <a:ea typeface="Nunito"/>
                <a:cs typeface="Nunito"/>
                <a:sym typeface="Nunito"/>
              </a:rPr>
              <a:t>Controlled adaptive baseline updates</a:t>
            </a:r>
          </a:p>
          <a:p>
            <a:pPr algn="just" marL="626109" indent="-313054" lvl="1">
              <a:lnSpc>
                <a:spcPts val="4059"/>
              </a:lnSpc>
              <a:buFont typeface="Arial"/>
              <a:buChar char="•"/>
            </a:pPr>
            <a:r>
              <a:rPr lang="en-US" sz="2899">
                <a:solidFill>
                  <a:srgbClr val="000000"/>
                </a:solidFill>
                <a:latin typeface="Nunito"/>
                <a:ea typeface="Nunito"/>
                <a:cs typeface="Nunito"/>
                <a:sym typeface="Nunito"/>
              </a:rPr>
              <a:t>End-to-end automation testing</a:t>
            </a:r>
          </a:p>
          <a:p>
            <a:pPr algn="ctr">
              <a:lnSpc>
                <a:spcPts val="4059"/>
              </a:lnSpc>
            </a:pPr>
          </a:p>
        </p:txBody>
      </p:sp>
      <p:sp>
        <p:nvSpPr>
          <p:cNvPr name="Freeform 6" id="6"/>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2319137" y="9258300"/>
            <a:ext cx="3911463" cy="3911463"/>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3" id="13"/>
          <p:cNvGrpSpPr/>
          <p:nvPr/>
        </p:nvGrpSpPr>
        <p:grpSpPr>
          <a:xfrm rot="0">
            <a:off x="2129385" y="-2859528"/>
            <a:ext cx="3911463" cy="3911463"/>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2665158" y="1936891"/>
            <a:ext cx="13192350" cy="7321409"/>
          </a:xfrm>
          <a:custGeom>
            <a:avLst/>
            <a:gdLst/>
            <a:ahLst/>
            <a:cxnLst/>
            <a:rect r="r" b="b" t="t" l="l"/>
            <a:pathLst>
              <a:path h="7321409" w="13192350">
                <a:moveTo>
                  <a:pt x="0" y="0"/>
                </a:moveTo>
                <a:lnTo>
                  <a:pt x="13192350" y="0"/>
                </a:lnTo>
                <a:lnTo>
                  <a:pt x="13192350" y="7321409"/>
                </a:lnTo>
                <a:lnTo>
                  <a:pt x="0" y="7321409"/>
                </a:lnTo>
                <a:lnTo>
                  <a:pt x="0" y="0"/>
                </a:lnTo>
                <a:close/>
              </a:path>
            </a:pathLst>
          </a:custGeom>
          <a:blipFill>
            <a:blip r:embed="rId4"/>
            <a:stretch>
              <a:fillRect l="-1920" t="-16883" r="-8374" b="-15526"/>
            </a:stretch>
          </a:blipFill>
        </p:spPr>
      </p:sp>
      <p:sp>
        <p:nvSpPr>
          <p:cNvPr name="TextBox 15" id="1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12</a:t>
            </a:r>
          </a:p>
        </p:txBody>
      </p:sp>
      <p:sp>
        <p:nvSpPr>
          <p:cNvPr name="TextBox 16" id="16"/>
          <p:cNvSpPr txBox="true"/>
          <p:nvPr/>
        </p:nvSpPr>
        <p:spPr>
          <a:xfrm rot="0">
            <a:off x="1028700" y="962025"/>
            <a:ext cx="16230600" cy="563881"/>
          </a:xfrm>
          <a:prstGeom prst="rect">
            <a:avLst/>
          </a:prstGeom>
        </p:spPr>
        <p:txBody>
          <a:bodyPr anchor="t" rtlCol="false" tIns="0" lIns="0" bIns="0" rIns="0">
            <a:spAutoFit/>
          </a:bodyPr>
          <a:lstStyle/>
          <a:p>
            <a:pPr algn="ctr">
              <a:lnSpc>
                <a:spcPts val="4619"/>
              </a:lnSpc>
              <a:spcBef>
                <a:spcPct val="0"/>
              </a:spcBef>
            </a:pPr>
            <a:r>
              <a:rPr lang="en-US" b="true" sz="3299">
                <a:solidFill>
                  <a:srgbClr val="000000"/>
                </a:solidFill>
                <a:latin typeface="Proxima Nova Bold"/>
                <a:ea typeface="Proxima Nova Bold"/>
                <a:cs typeface="Proxima Nova Bold"/>
                <a:sym typeface="Proxima Nova Bold"/>
              </a:rPr>
              <a:t>Project  Workflow</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13</a:t>
            </a:r>
          </a:p>
        </p:txBody>
      </p:sp>
      <p:sp>
        <p:nvSpPr>
          <p:cNvPr name="Freeform 15" id="15"/>
          <p:cNvSpPr/>
          <p:nvPr/>
        </p:nvSpPr>
        <p:spPr>
          <a:xfrm flipH="false" flipV="false" rot="0">
            <a:off x="1028700" y="2317020"/>
            <a:ext cx="16230600" cy="7242905"/>
          </a:xfrm>
          <a:custGeom>
            <a:avLst/>
            <a:gdLst/>
            <a:ahLst/>
            <a:cxnLst/>
            <a:rect r="r" b="b" t="t" l="l"/>
            <a:pathLst>
              <a:path h="7242905" w="16230600">
                <a:moveTo>
                  <a:pt x="0" y="0"/>
                </a:moveTo>
                <a:lnTo>
                  <a:pt x="16230600" y="0"/>
                </a:lnTo>
                <a:lnTo>
                  <a:pt x="16230600" y="7242905"/>
                </a:lnTo>
                <a:lnTo>
                  <a:pt x="0" y="7242905"/>
                </a:lnTo>
                <a:lnTo>
                  <a:pt x="0" y="0"/>
                </a:lnTo>
                <a:close/>
              </a:path>
            </a:pathLst>
          </a:custGeom>
          <a:blipFill>
            <a:blip r:embed="rId4"/>
            <a:stretch>
              <a:fillRect l="0" t="0" r="0" b="0"/>
            </a:stretch>
          </a:blipFill>
        </p:spPr>
      </p:sp>
      <p:sp>
        <p:nvSpPr>
          <p:cNvPr name="TextBox 16" id="16"/>
          <p:cNvSpPr txBox="true"/>
          <p:nvPr/>
        </p:nvSpPr>
        <p:spPr>
          <a:xfrm rot="0">
            <a:off x="6761976" y="952500"/>
            <a:ext cx="4764048" cy="663361"/>
          </a:xfrm>
          <a:prstGeom prst="rect">
            <a:avLst/>
          </a:prstGeom>
        </p:spPr>
        <p:txBody>
          <a:bodyPr anchor="t" rtlCol="false" tIns="0" lIns="0" bIns="0" rIns="0">
            <a:spAutoFit/>
          </a:bodyPr>
          <a:lstStyle/>
          <a:p>
            <a:pPr algn="ctr">
              <a:lnSpc>
                <a:spcPts val="5436"/>
              </a:lnSpc>
              <a:spcBef>
                <a:spcPct val="0"/>
              </a:spcBef>
            </a:pPr>
            <a:r>
              <a:rPr lang="en-US" b="true" sz="3883">
                <a:solidFill>
                  <a:srgbClr val="000000"/>
                </a:solidFill>
                <a:latin typeface="Proxima Nova Bold"/>
                <a:ea typeface="Proxima Nova Bold"/>
                <a:cs typeface="Proxima Nova Bold"/>
                <a:sym typeface="Proxima Nova Bold"/>
              </a:rPr>
              <a:t>Use</a:t>
            </a:r>
            <a:r>
              <a:rPr lang="en-US" b="true" sz="3883">
                <a:solidFill>
                  <a:srgbClr val="000000"/>
                </a:solidFill>
                <a:latin typeface="Proxima Nova Bold"/>
                <a:ea typeface="Proxima Nova Bold"/>
                <a:cs typeface="Proxima Nova Bold"/>
                <a:sym typeface="Proxima Nova Bold"/>
              </a:rPr>
              <a:t>r Interaction Area</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14</a:t>
            </a:r>
          </a:p>
        </p:txBody>
      </p:sp>
      <p:sp>
        <p:nvSpPr>
          <p:cNvPr name="Freeform 15" id="15"/>
          <p:cNvSpPr/>
          <p:nvPr/>
        </p:nvSpPr>
        <p:spPr>
          <a:xfrm flipH="false" flipV="false" rot="0">
            <a:off x="3895590" y="2064606"/>
            <a:ext cx="10379279" cy="7344507"/>
          </a:xfrm>
          <a:custGeom>
            <a:avLst/>
            <a:gdLst/>
            <a:ahLst/>
            <a:cxnLst/>
            <a:rect r="r" b="b" t="t" l="l"/>
            <a:pathLst>
              <a:path h="7344507" w="10379279">
                <a:moveTo>
                  <a:pt x="0" y="0"/>
                </a:moveTo>
                <a:lnTo>
                  <a:pt x="10379279" y="0"/>
                </a:lnTo>
                <a:lnTo>
                  <a:pt x="10379279" y="7344506"/>
                </a:lnTo>
                <a:lnTo>
                  <a:pt x="0" y="7344506"/>
                </a:lnTo>
                <a:lnTo>
                  <a:pt x="0" y="0"/>
                </a:lnTo>
                <a:close/>
              </a:path>
            </a:pathLst>
          </a:custGeom>
          <a:blipFill>
            <a:blip r:embed="rId4"/>
            <a:stretch>
              <a:fillRect l="0" t="0" r="0" b="0"/>
            </a:stretch>
          </a:blipFill>
        </p:spPr>
      </p:sp>
      <p:sp>
        <p:nvSpPr>
          <p:cNvPr name="TextBox 16" id="16"/>
          <p:cNvSpPr txBox="true"/>
          <p:nvPr/>
        </p:nvSpPr>
        <p:spPr>
          <a:xfrm rot="0">
            <a:off x="7069810" y="994785"/>
            <a:ext cx="3793212" cy="587376"/>
          </a:xfrm>
          <a:prstGeom prst="rect">
            <a:avLst/>
          </a:prstGeom>
        </p:spPr>
        <p:txBody>
          <a:bodyPr anchor="t" rtlCol="false" tIns="0" lIns="0" bIns="0" rIns="0">
            <a:spAutoFit/>
          </a:bodyPr>
          <a:lstStyle/>
          <a:p>
            <a:pPr algn="ctr">
              <a:lnSpc>
                <a:spcPts val="4899"/>
              </a:lnSpc>
              <a:spcBef>
                <a:spcPct val="0"/>
              </a:spcBef>
            </a:pPr>
            <a:r>
              <a:rPr lang="en-US" b="true" sz="3499">
                <a:solidFill>
                  <a:srgbClr val="000000"/>
                </a:solidFill>
                <a:latin typeface="Proxima Nova Bold"/>
                <a:ea typeface="Proxima Nova Bold"/>
                <a:cs typeface="Proxima Nova Bold"/>
                <a:sym typeface="Proxima Nova Bold"/>
              </a:rPr>
              <a:t>Extracted Features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2129385" y="-2859528"/>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0115877" y="552465"/>
            <a:ext cx="5562108" cy="7467071"/>
          </a:xfrm>
          <a:custGeom>
            <a:avLst/>
            <a:gdLst/>
            <a:ahLst/>
            <a:cxnLst/>
            <a:rect r="r" b="b" t="t" l="l"/>
            <a:pathLst>
              <a:path h="7467071" w="5562108">
                <a:moveTo>
                  <a:pt x="0" y="0"/>
                </a:moveTo>
                <a:lnTo>
                  <a:pt x="5562108" y="0"/>
                </a:lnTo>
                <a:lnTo>
                  <a:pt x="5562108" y="7467071"/>
                </a:lnTo>
                <a:lnTo>
                  <a:pt x="0" y="7467071"/>
                </a:lnTo>
                <a:lnTo>
                  <a:pt x="0" y="0"/>
                </a:lnTo>
                <a:close/>
              </a:path>
            </a:pathLst>
          </a:custGeom>
          <a:blipFill>
            <a:blip r:embed="rId4"/>
            <a:stretch>
              <a:fillRect l="0" t="-367" r="0" b="-39918"/>
            </a:stretch>
          </a:blipFill>
        </p:spPr>
      </p:sp>
      <p:sp>
        <p:nvSpPr>
          <p:cNvPr name="Freeform 10" id="10"/>
          <p:cNvSpPr/>
          <p:nvPr/>
        </p:nvSpPr>
        <p:spPr>
          <a:xfrm flipH="false" flipV="false" rot="0">
            <a:off x="10115877" y="8019536"/>
            <a:ext cx="5562108" cy="1784004"/>
          </a:xfrm>
          <a:custGeom>
            <a:avLst/>
            <a:gdLst/>
            <a:ahLst/>
            <a:cxnLst/>
            <a:rect r="r" b="b" t="t" l="l"/>
            <a:pathLst>
              <a:path h="1784004" w="5562108">
                <a:moveTo>
                  <a:pt x="0" y="0"/>
                </a:moveTo>
                <a:lnTo>
                  <a:pt x="5562108" y="0"/>
                </a:lnTo>
                <a:lnTo>
                  <a:pt x="5562108" y="1784004"/>
                </a:lnTo>
                <a:lnTo>
                  <a:pt x="0" y="1784004"/>
                </a:lnTo>
                <a:lnTo>
                  <a:pt x="0" y="0"/>
                </a:lnTo>
                <a:close/>
              </a:path>
            </a:pathLst>
          </a:custGeom>
          <a:blipFill>
            <a:blip r:embed="rId4"/>
            <a:stretch>
              <a:fillRect l="0" t="-487179" r="0" b="0"/>
            </a:stretch>
          </a:blipFill>
        </p:spPr>
      </p:sp>
      <p:sp>
        <p:nvSpPr>
          <p:cNvPr name="TextBox 11" id="1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15</a:t>
            </a:r>
          </a:p>
        </p:txBody>
      </p:sp>
      <p:sp>
        <p:nvSpPr>
          <p:cNvPr name="TextBox 12" id="12"/>
          <p:cNvSpPr txBox="true"/>
          <p:nvPr/>
        </p:nvSpPr>
        <p:spPr>
          <a:xfrm rot="0">
            <a:off x="1498023" y="1143212"/>
            <a:ext cx="7712979" cy="7768326"/>
          </a:xfrm>
          <a:prstGeom prst="rect">
            <a:avLst/>
          </a:prstGeom>
        </p:spPr>
        <p:txBody>
          <a:bodyPr anchor="t" rtlCol="false" tIns="0" lIns="0" bIns="0" rIns="0">
            <a:spAutoFit/>
          </a:bodyPr>
          <a:lstStyle/>
          <a:p>
            <a:pPr algn="l">
              <a:lnSpc>
                <a:spcPts val="5044"/>
              </a:lnSpc>
            </a:pPr>
            <a:r>
              <a:rPr lang="en-US" sz="3603" b="true">
                <a:solidFill>
                  <a:srgbClr val="000000"/>
                </a:solidFill>
                <a:latin typeface="Open Sans Bold"/>
                <a:ea typeface="Open Sans Bold"/>
                <a:cs typeface="Open Sans Bold"/>
                <a:sym typeface="Open Sans Bold"/>
              </a:rPr>
              <a:t>Current Implementation</a:t>
            </a:r>
          </a:p>
          <a:p>
            <a:pPr algn="l">
              <a:lnSpc>
                <a:spcPts val="3799"/>
              </a:lnSpc>
            </a:pPr>
          </a:p>
          <a:p>
            <a:pPr algn="l" marL="585931" indent="-292965" lvl="1">
              <a:lnSpc>
                <a:spcPts val="3799"/>
              </a:lnSpc>
              <a:buFont typeface="Arial"/>
              <a:buChar char="•"/>
            </a:pPr>
            <a:r>
              <a:rPr lang="en-US" sz="2713">
                <a:solidFill>
                  <a:srgbClr val="000000"/>
                </a:solidFill>
                <a:latin typeface="Open Sans"/>
                <a:ea typeface="Open Sans"/>
                <a:cs typeface="Open Sans"/>
                <a:sym typeface="Open Sans"/>
              </a:rPr>
              <a:t>M</a:t>
            </a:r>
            <a:r>
              <a:rPr lang="en-US" sz="2713">
                <a:solidFill>
                  <a:srgbClr val="000000"/>
                </a:solidFill>
                <a:latin typeface="Open Sans"/>
                <a:ea typeface="Open Sans"/>
                <a:cs typeface="Open Sans"/>
                <a:sym typeface="Open Sans"/>
              </a:rPr>
              <a:t>odular separation of frontend and backend</a:t>
            </a:r>
          </a:p>
          <a:p>
            <a:pPr algn="l" marL="585931" indent="-292965" lvl="1">
              <a:lnSpc>
                <a:spcPts val="3799"/>
              </a:lnSpc>
              <a:buFont typeface="Arial"/>
              <a:buChar char="•"/>
            </a:pPr>
            <a:r>
              <a:rPr lang="en-US" sz="2713">
                <a:solidFill>
                  <a:srgbClr val="000000"/>
                </a:solidFill>
                <a:latin typeface="Open Sans"/>
                <a:ea typeface="Open Sans"/>
                <a:cs typeface="Open Sans"/>
                <a:sym typeface="Open Sans"/>
              </a:rPr>
              <a:t>Frontend captures keystroke and mouse interactions</a:t>
            </a:r>
          </a:p>
          <a:p>
            <a:pPr algn="l" marL="585931" indent="-292965" lvl="1">
              <a:lnSpc>
                <a:spcPts val="3799"/>
              </a:lnSpc>
              <a:buFont typeface="Arial"/>
              <a:buChar char="•"/>
            </a:pPr>
            <a:r>
              <a:rPr lang="en-US" sz="2713">
                <a:solidFill>
                  <a:srgbClr val="000000"/>
                </a:solidFill>
                <a:latin typeface="Open Sans"/>
                <a:ea typeface="Open Sans"/>
                <a:cs typeface="Open Sans"/>
                <a:sym typeface="Open Sans"/>
              </a:rPr>
              <a:t>Flask backend receives and processes interaction data</a:t>
            </a:r>
          </a:p>
          <a:p>
            <a:pPr algn="l" marL="585931" indent="-292965" lvl="1">
              <a:lnSpc>
                <a:spcPts val="3799"/>
              </a:lnSpc>
              <a:buFont typeface="Arial"/>
              <a:buChar char="•"/>
            </a:pPr>
            <a:r>
              <a:rPr lang="en-US" sz="2713">
                <a:solidFill>
                  <a:srgbClr val="000000"/>
                </a:solidFill>
                <a:latin typeface="Open Sans"/>
                <a:ea typeface="Open Sans"/>
                <a:cs typeface="Open Sans"/>
                <a:sym typeface="Open Sans"/>
              </a:rPr>
              <a:t>Behavioural logs stored in structured JSON format</a:t>
            </a:r>
          </a:p>
          <a:p>
            <a:pPr algn="l" marL="585931" indent="-292965" lvl="1">
              <a:lnSpc>
                <a:spcPts val="3799"/>
              </a:lnSpc>
              <a:buFont typeface="Arial"/>
              <a:buChar char="•"/>
            </a:pPr>
            <a:r>
              <a:rPr lang="en-US" sz="2713">
                <a:solidFill>
                  <a:srgbClr val="000000"/>
                </a:solidFill>
                <a:latin typeface="Open Sans"/>
                <a:ea typeface="Open Sans"/>
                <a:cs typeface="Open Sans"/>
                <a:sym typeface="Open Sans"/>
              </a:rPr>
              <a:t>Feature extraction performed on collected data</a:t>
            </a:r>
          </a:p>
          <a:p>
            <a:pPr algn="l" marL="585931" indent="-292965" lvl="1">
              <a:lnSpc>
                <a:spcPts val="3799"/>
              </a:lnSpc>
              <a:buFont typeface="Arial"/>
              <a:buChar char="•"/>
            </a:pPr>
            <a:r>
              <a:rPr lang="en-US" sz="2713">
                <a:solidFill>
                  <a:srgbClr val="000000"/>
                </a:solidFill>
                <a:latin typeface="Open Sans"/>
                <a:ea typeface="Open Sans"/>
                <a:cs typeface="Open Sans"/>
                <a:sym typeface="Open Sans"/>
              </a:rPr>
              <a:t>Baseline and current behaviour profiles maintained</a:t>
            </a:r>
          </a:p>
          <a:p>
            <a:pPr algn="l" marL="585931" indent="-292965" lvl="1">
              <a:lnSpc>
                <a:spcPts val="3799"/>
              </a:lnSpc>
              <a:buFont typeface="Arial"/>
              <a:buChar char="•"/>
            </a:pPr>
            <a:r>
              <a:rPr lang="en-US" sz="2713">
                <a:solidFill>
                  <a:srgbClr val="000000"/>
                </a:solidFill>
                <a:latin typeface="Open Sans"/>
                <a:ea typeface="Open Sans"/>
                <a:cs typeface="Open Sans"/>
                <a:sym typeface="Open Sans"/>
              </a:rPr>
              <a:t>Behavioural drift detected by profile comparison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028700" y="1306654"/>
            <a:ext cx="16230600" cy="927100"/>
          </a:xfrm>
          <a:prstGeom prst="rect">
            <a:avLst/>
          </a:prstGeom>
        </p:spPr>
        <p:txBody>
          <a:bodyPr anchor="t" rtlCol="false" tIns="0" lIns="0" bIns="0" rIns="0">
            <a:spAutoFit/>
          </a:bodyPr>
          <a:lstStyle/>
          <a:p>
            <a:pPr algn="ctr">
              <a:lnSpc>
                <a:spcPts val="7699"/>
              </a:lnSpc>
            </a:pPr>
            <a:r>
              <a:rPr lang="en-US" b="true" sz="5499">
                <a:solidFill>
                  <a:srgbClr val="000000"/>
                </a:solidFill>
                <a:latin typeface="Proxima Nova Bold"/>
                <a:ea typeface="Proxima Nova Bold"/>
                <a:cs typeface="Proxima Nova Bold"/>
                <a:sym typeface="Proxima Nova Bold"/>
              </a:rPr>
              <a:t>REFERENCES</a:t>
            </a:r>
          </a:p>
        </p:txBody>
      </p:sp>
      <p:sp>
        <p:nvSpPr>
          <p:cNvPr name="TextBox 15" id="15"/>
          <p:cNvSpPr txBox="true"/>
          <p:nvPr/>
        </p:nvSpPr>
        <p:spPr>
          <a:xfrm rot="0">
            <a:off x="1879817" y="2798687"/>
            <a:ext cx="14528367" cy="5744651"/>
          </a:xfrm>
          <a:prstGeom prst="rect">
            <a:avLst/>
          </a:prstGeom>
        </p:spPr>
        <p:txBody>
          <a:bodyPr anchor="t" rtlCol="false" tIns="0" lIns="0" bIns="0" rIns="0">
            <a:spAutoFit/>
          </a:bodyPr>
          <a:lstStyle/>
          <a:p>
            <a:pPr algn="just" marL="638558" indent="-319279" lvl="1">
              <a:lnSpc>
                <a:spcPts val="4140"/>
              </a:lnSpc>
              <a:buAutoNum type="arabicPeriod" startAt="1"/>
            </a:pPr>
            <a:r>
              <a:rPr lang="en-US" sz="2957">
                <a:solidFill>
                  <a:srgbClr val="000000"/>
                </a:solidFill>
                <a:latin typeface="Nunito"/>
                <a:ea typeface="Nunito"/>
                <a:cs typeface="Nunito"/>
                <a:sym typeface="Nunito"/>
              </a:rPr>
              <a:t>Bansal, P., &amp; Ouda, A. (2024). Continuous Authentication in the Digital Age: An Analysis of Reinforcement Learning and Behavioral Biometrics. </a:t>
            </a:r>
            <a:r>
              <a:rPr lang="en-US" sz="2957" i="true">
                <a:solidFill>
                  <a:srgbClr val="000000"/>
                </a:solidFill>
                <a:latin typeface="Nunito Italics"/>
                <a:ea typeface="Nunito Italics"/>
                <a:cs typeface="Nunito Italics"/>
                <a:sym typeface="Nunito Italics"/>
              </a:rPr>
              <a:t>Computers</a:t>
            </a:r>
            <a:r>
              <a:rPr lang="en-US" sz="2957">
                <a:solidFill>
                  <a:srgbClr val="000000"/>
                </a:solidFill>
                <a:latin typeface="Nunito"/>
                <a:ea typeface="Nunito"/>
                <a:cs typeface="Nunito"/>
                <a:sym typeface="Nunito"/>
              </a:rPr>
              <a:t>, </a:t>
            </a:r>
            <a:r>
              <a:rPr lang="en-US" sz="2957" i="true">
                <a:solidFill>
                  <a:srgbClr val="000000"/>
                </a:solidFill>
                <a:latin typeface="Nunito Italics"/>
                <a:ea typeface="Nunito Italics"/>
                <a:cs typeface="Nunito Italics"/>
                <a:sym typeface="Nunito Italics"/>
              </a:rPr>
              <a:t>13</a:t>
            </a:r>
            <a:r>
              <a:rPr lang="en-US" sz="2957">
                <a:solidFill>
                  <a:srgbClr val="000000"/>
                </a:solidFill>
                <a:latin typeface="Nunito"/>
                <a:ea typeface="Nunito"/>
                <a:cs typeface="Nunito"/>
                <a:sym typeface="Nunito"/>
              </a:rPr>
              <a:t>(4), 103. https://doi.org/10.3390/computers13040103</a:t>
            </a:r>
          </a:p>
          <a:p>
            <a:pPr algn="just" marL="638558" indent="-319279" lvl="1">
              <a:lnSpc>
                <a:spcPts val="4140"/>
              </a:lnSpc>
              <a:buAutoNum type="arabicPeriod" startAt="1"/>
            </a:pPr>
            <a:r>
              <a:rPr lang="en-US" sz="2957">
                <a:solidFill>
                  <a:srgbClr val="000000"/>
                </a:solidFill>
                <a:latin typeface="Nunito"/>
                <a:ea typeface="Nunito"/>
                <a:cs typeface="Nunito"/>
                <a:sym typeface="Nunito"/>
              </a:rPr>
              <a:t>Suleiman S. Abba, Onyinye Agatha Obioha-Val, Valerie Ojinika Ejiofor, Oluwadayo Mafolasere Olaniyi &amp; Nanyeneke Ravana Mayeke. (2025). Behavioral Biometrics-Powered Continuous Authentication for Zero-trust Remote Work Environments: A Multi-factor Identity Verification Framework. Asian Journal of Research in Computer Science, 18(12), 20–41. https://doi.org/10.9734/ajrcos/2025/v18i12788</a:t>
            </a:r>
          </a:p>
          <a:p>
            <a:pPr algn="just" marL="638558" indent="-319279" lvl="1">
              <a:lnSpc>
                <a:spcPts val="4140"/>
              </a:lnSpc>
              <a:buAutoNum type="arabicPeriod" startAt="1"/>
            </a:pPr>
            <a:r>
              <a:rPr lang="en-US" sz="2957">
                <a:solidFill>
                  <a:srgbClr val="000000"/>
                </a:solidFill>
                <a:latin typeface="Nunito"/>
                <a:ea typeface="Nunito"/>
                <a:cs typeface="Nunito"/>
                <a:sym typeface="Nunito"/>
              </a:rPr>
              <a:t>Sağbaş, E. A., &amp; Ballı, S. (2024). Machine learning-based novel continuous authentication system using soft keyboard typing behavior and motion sensor data. Neural Computing and Applications, 36</a:t>
            </a:r>
          </a:p>
        </p:txBody>
      </p:sp>
      <p:sp>
        <p:nvSpPr>
          <p:cNvPr name="TextBox 16" id="1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16</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4013131" y="3908425"/>
            <a:ext cx="10261737" cy="2222501"/>
          </a:xfrm>
          <a:prstGeom prst="rect">
            <a:avLst/>
          </a:prstGeom>
        </p:spPr>
        <p:txBody>
          <a:bodyPr anchor="t" rtlCol="false" tIns="0" lIns="0" bIns="0" rIns="0">
            <a:spAutoFit/>
          </a:bodyPr>
          <a:lstStyle/>
          <a:p>
            <a:pPr algn="ctr">
              <a:lnSpc>
                <a:spcPts val="18199"/>
              </a:lnSpc>
            </a:pPr>
            <a:r>
              <a:rPr lang="en-US" b="true" sz="12999">
                <a:solidFill>
                  <a:srgbClr val="000000"/>
                </a:solidFill>
                <a:latin typeface="Proxima Nova Bold"/>
                <a:ea typeface="Proxima Nova Bold"/>
                <a:cs typeface="Proxima Nova Bold"/>
                <a:sym typeface="Proxima Nova Bold"/>
              </a:rPr>
              <a:t>THANK YOU</a:t>
            </a:r>
          </a:p>
        </p:txBody>
      </p:sp>
      <p:sp>
        <p:nvSpPr>
          <p:cNvPr name="TextBox 15" id="1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DAG9LGYHIqk</dc:identifier>
  <dcterms:modified xsi:type="dcterms:W3CDTF">2011-08-01T06:04:30Z</dcterms:modified>
  <cp:revision>1</cp:revision>
  <dc:title>Adaptive Continuous Authentication Using Behavioral Biometrics</dc:title>
</cp:coreProperties>
</file>